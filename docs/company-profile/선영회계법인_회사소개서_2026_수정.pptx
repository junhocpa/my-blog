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image" Target="../media/hero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Relationship Id="rId4" Type="http://schemas.openxmlformats.org/officeDocument/2006/relationships/image" Target="../media/audit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Relationship Id="rId4" Type="http://schemas.openxmlformats.org/officeDocument/2006/relationships/image" Target="../media/tax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Relationship Id="rId4" Type="http://schemas.openxmlformats.org/officeDocument/2006/relationships/image" Target="../media/expert1.png"/><Relationship Id="rId5" Type="http://schemas.openxmlformats.org/officeDocument/2006/relationships/image" Target="../media/expert2.png"/><Relationship Id="rId6" Type="http://schemas.openxmlformats.org/officeDocument/2006/relationships/image" Target="../media/expert3.png"/><Relationship Id="rId7" Type="http://schemas.openxmlformats.org/officeDocument/2006/relationships/image" Target="../media/expert4.png"/><Relationship Id="rId8" Type="http://schemas.openxmlformats.org/officeDocument/2006/relationships/image" Target="../media/expert5.png"/><Relationship Id="rId9" Type="http://schemas.openxmlformats.org/officeDocument/2006/relationships/image" Target="../media/expert6.png"/><Relationship Id="rId10" Type="http://schemas.openxmlformats.org/officeDocument/2006/relationships/image" Target="../media/expert7.png"/><Relationship Id="rId11" Type="http://schemas.openxmlformats.org/officeDocument/2006/relationships/image" Target="../media/expert8.png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Relationship Id="rId4" Type="http://schemas.openxmlformats.org/officeDocument/2006/relationships/image" Target="../media/office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 l="3333" r="333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seonyeong</a:t>
            </a:r>
            <a:pPr indent="0" marL="0">
              <a:buNone/>
            </a:pPr>
            <a:r>
              <a:rPr lang="en-US" sz="650" spc="100" kern="0" dirty="0">
                <a:solidFill>
                  <a:srgbClr val="6F7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ACCOUNTING CORPORATION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297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F7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회사소개서  | 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seonyeong</a:t>
            </a:r>
            <a:pPr indent="0" marL="0">
              <a:buNone/>
            </a:pPr>
            <a:r>
              <a:rPr lang="en-US" sz="650" spc="100" kern="0" dirty="0">
                <a:solidFill>
                  <a:srgbClr val="6F7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ACCOUNTING CORPORATION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0" y="47548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F7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선영회계법인  |  2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229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9C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About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97280"/>
            <a:ext cx="3474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4800" b="1" dirty="0">
                <a:solidFill>
                  <a:srgbClr val="A9C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</a:t>
            </a:r>
            <a:endParaRPr lang="en-US" sz="48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4800" b="1" dirty="0">
                <a:solidFill>
                  <a:srgbClr val="A9C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Are</a:t>
            </a:r>
            <a:endParaRPr lang="en-US" sz="4800" dirty="0"/>
          </a:p>
        </p:txBody>
      </p:sp>
      <p:sp>
        <p:nvSpPr>
          <p:cNvPr id="6" name="Text 4"/>
          <p:cNvSpPr txBox="1"/>
          <p:nvPr/>
        </p:nvSpPr>
        <p:spPr>
          <a:xfrm>
            <a:off x="4206240" y="1143000"/>
            <a:ext cx="44805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B8C0C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선영회계법인은 회계 · 세무 · 재무자문 분야에서 축적된 경험을 바탕으로 정밀하고 신뢰할 수 있는 서비스를 제공하는 </a:t>
            </a:r>
            <a:pPr indent="0" marL="0">
              <a:lnSpc>
                <a:spcPct val="13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전문가 집단</a:t>
            </a:r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B8C0C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입니다.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6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B8C0C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고객의 복잡한 재무 상황을 정확히 진단하고, 구조화된 해결책을 제시함으로써 기업의 지속 가능한 성장과 투명한 경영 환경 조성에 기여합니다. 회계사의 윤리성과 전문성을 바탕으로, 단순한 대행이 아닌 고객의 전략적 의사결정을 함께 설계하는 </a:t>
            </a:r>
            <a:pPr indent="0" marL="0">
              <a:lnSpc>
                <a:spcPct val="13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책임 있는 동반자</a:t>
            </a:r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B8C0C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로서 역할을 다합니다.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" y="3703320"/>
            <a:ext cx="2606040" cy="777240"/>
          </a:xfrm>
          <a:prstGeom prst="rect">
            <a:avLst/>
          </a:prstGeom>
          <a:solidFill>
            <a:srgbClr val="0C111C"/>
          </a:solidFill>
          <a:ln w="9525">
            <a:solidFill>
              <a:srgbClr val="1E263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377647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9C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409651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C0C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회계감사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46120" y="3703320"/>
            <a:ext cx="2606040" cy="777240"/>
          </a:xfrm>
          <a:prstGeom prst="rect">
            <a:avLst/>
          </a:prstGeom>
          <a:solidFill>
            <a:srgbClr val="0C111C"/>
          </a:solidFill>
          <a:ln w="9525">
            <a:solidFill>
              <a:srgbClr val="1E263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429000" y="377647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9C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Advisory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3429000" y="409651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C0C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회계·재무자문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035040" y="3703320"/>
            <a:ext cx="2606040" cy="777240"/>
          </a:xfrm>
          <a:prstGeom prst="rect">
            <a:avLst/>
          </a:prstGeom>
          <a:solidFill>
            <a:srgbClr val="0C111C"/>
          </a:solidFill>
          <a:ln w="9525">
            <a:solidFill>
              <a:srgbClr val="1E263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217920" y="377647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9C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Tax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217920" y="409651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C0C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세무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seonyeong</a:t>
            </a:r>
            <a:pPr indent="0" marL="0">
              <a:buNone/>
            </a:pPr>
            <a:r>
              <a:rPr lang="en-US" sz="650" spc="100" kern="0" dirty="0">
                <a:solidFill>
                  <a:srgbClr val="6F7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ACCOUNTING CORPORATION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0" y="47548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F7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선영회계법인  |  3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858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9C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About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9326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A9C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Purpose · Principles · Values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8229600" cy="960120"/>
          </a:xfrm>
          <a:prstGeom prst="rect">
            <a:avLst/>
          </a:prstGeom>
          <a:solidFill>
            <a:srgbClr val="0C111C"/>
          </a:solidFill>
          <a:ln w="9525">
            <a:solidFill>
              <a:srgbClr val="1E26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16459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9C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Purpose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2560320" y="1645920"/>
            <a:ext cx="5943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탁월함을 통한 선한 영향력의 실천. 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B8C0C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기업의 복잡한 재무 환경에 명확한 기준과 전문적 해법을 제시함으로써 기업의 건전한 성장과 사회의 재무 투명성을 통해 지속 가능한 가치를 만들어갑니다.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2743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9C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Principles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3108960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A35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914400" y="312724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with Ownership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914400" y="3346704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C0C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집요한 주인의식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3611880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A35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914400" y="363016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Leverage Technology for Excellence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914400" y="3849624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C0C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전략적인 기술 활용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4114800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A35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914400" y="413308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Uphold Integrity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914400" y="4352544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C0C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윤리와 독립성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4709160" y="2743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9C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Values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4709160" y="3108960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A35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21" name="Text 19"/>
          <p:cNvSpPr txBox="1"/>
          <p:nvPr/>
        </p:nvSpPr>
        <p:spPr>
          <a:xfrm>
            <a:off x="5166360" y="312724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5166360" y="3346704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C0C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핵심에 집중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4709160" y="3611880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A35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24" name="Text 22"/>
          <p:cNvSpPr txBox="1"/>
          <p:nvPr/>
        </p:nvSpPr>
        <p:spPr>
          <a:xfrm>
            <a:off x="5166360" y="363016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Dynamic Thinking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5166360" y="3849624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C0C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입체적 사고</a:t>
            </a:r>
            <a:endParaRPr lang="en-US" sz="950" dirty="0"/>
          </a:p>
        </p:txBody>
      </p:sp>
      <p:sp>
        <p:nvSpPr>
          <p:cNvPr id="26" name="Text 24"/>
          <p:cNvSpPr txBox="1"/>
          <p:nvPr/>
        </p:nvSpPr>
        <p:spPr>
          <a:xfrm>
            <a:off x="4709160" y="4114800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A35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27" name="Text 25"/>
          <p:cNvSpPr txBox="1"/>
          <p:nvPr/>
        </p:nvSpPr>
        <p:spPr>
          <a:xfrm>
            <a:off x="5166360" y="413308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Responsibility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5166360" y="4352544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C0C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책임감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seonyeong</a:t>
            </a:r>
            <a:pPr indent="0" marL="0">
              <a:buNone/>
            </a:pPr>
            <a:r>
              <a:rPr lang="en-US" sz="650" spc="100" kern="0" dirty="0">
                <a:solidFill>
                  <a:srgbClr val="6F7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ACCOUNTING CORPORATION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0" y="47548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F7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선영회계법인  |  4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858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9C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9326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A9C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Offer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463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0C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회계감사, 회계자문, 세무, 재무자문 등 기업의 재무 전반을 아우르는 핵심 서비스를 제공합니다.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920240"/>
            <a:ext cx="3977640" cy="1143000"/>
          </a:xfrm>
          <a:prstGeom prst="rect">
            <a:avLst/>
          </a:prstGeom>
          <a:solidFill>
            <a:srgbClr val="0C111C"/>
          </a:solidFill>
          <a:ln w="9525">
            <a:solidFill>
              <a:srgbClr val="1E263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2029968"/>
            <a:ext cx="640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E6EE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4400" dirty="0"/>
          </a:p>
        </p:txBody>
      </p:sp>
      <p:sp>
        <p:nvSpPr>
          <p:cNvPr id="9" name="Text 7"/>
          <p:cNvSpPr txBox="1"/>
          <p:nvPr/>
        </p:nvSpPr>
        <p:spPr>
          <a:xfrm>
            <a:off x="1325880" y="205740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9C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&amp; Assurance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2377440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B8C0C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기업의 재무 건전성과 투명성을 검증하는 맞춤형 회계감사 및 내부통제 진단 서비스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709160" y="1920240"/>
            <a:ext cx="3977640" cy="1143000"/>
          </a:xfrm>
          <a:prstGeom prst="rect">
            <a:avLst/>
          </a:prstGeom>
          <a:solidFill>
            <a:srgbClr val="0C111C"/>
          </a:solidFill>
          <a:ln w="9525">
            <a:solidFill>
              <a:srgbClr val="1E263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892040" y="2029968"/>
            <a:ext cx="640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E6EE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4400" dirty="0"/>
          </a:p>
        </p:txBody>
      </p:sp>
      <p:sp>
        <p:nvSpPr>
          <p:cNvPr id="13" name="Text 11"/>
          <p:cNvSpPr txBox="1"/>
          <p:nvPr/>
        </p:nvSpPr>
        <p:spPr>
          <a:xfrm>
            <a:off x="5577840" y="205740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9C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Accounting Advisory Services (AAS)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5577840" y="2377440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B8C0C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복잡한 회계 이슈에 대한 실질적 자문과 IFRS 적용, 실사, 재무제표 작성 업무 지원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57200" y="3246120"/>
            <a:ext cx="3977640" cy="1143000"/>
          </a:xfrm>
          <a:prstGeom prst="rect">
            <a:avLst/>
          </a:prstGeom>
          <a:solidFill>
            <a:srgbClr val="0C111C"/>
          </a:solidFill>
          <a:ln w="9525">
            <a:solidFill>
              <a:srgbClr val="1E263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0080" y="3355848"/>
            <a:ext cx="640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E6EE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4400" dirty="0"/>
          </a:p>
        </p:txBody>
      </p:sp>
      <p:sp>
        <p:nvSpPr>
          <p:cNvPr id="17" name="Text 15"/>
          <p:cNvSpPr txBox="1"/>
          <p:nvPr/>
        </p:nvSpPr>
        <p:spPr>
          <a:xfrm>
            <a:off x="1325880" y="338328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9C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Tax Services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1325880" y="3703320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B8C0C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국내외 세무신고 대리와 조세 자문, 세무조사 대응 및 불복까지 종합 세무 서비스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709160" y="3246120"/>
            <a:ext cx="3977640" cy="1143000"/>
          </a:xfrm>
          <a:prstGeom prst="rect">
            <a:avLst/>
          </a:prstGeom>
          <a:solidFill>
            <a:srgbClr val="0C111C"/>
          </a:solidFill>
          <a:ln w="9525">
            <a:solidFill>
              <a:srgbClr val="1E263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892040" y="3355848"/>
            <a:ext cx="640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E6EE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4400" dirty="0"/>
          </a:p>
        </p:txBody>
      </p:sp>
      <p:sp>
        <p:nvSpPr>
          <p:cNvPr id="21" name="Text 19"/>
          <p:cNvSpPr txBox="1"/>
          <p:nvPr/>
        </p:nvSpPr>
        <p:spPr>
          <a:xfrm>
            <a:off x="5577840" y="338328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9C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Advisory Services (FAS)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5577840" y="3703320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B8C0C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M&amp;A, IPO, 사업 재편 등 전략적 의사결정을 위한 가치평가 · 실사 · 계약 자문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seonyeong</a:t>
            </a:r>
            <a:pPr indent="0" marL="0">
              <a:buNone/>
            </a:pPr>
            <a:r>
              <a:rPr lang="en-US" sz="650" spc="100" kern="0" dirty="0">
                <a:solidFill>
                  <a:srgbClr val="6F7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ACCOUNTING CORPORATION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0" y="47548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F7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선영회계법인  |  5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858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9C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914400"/>
            <a:ext cx="1097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400" b="1" dirty="0">
                <a:solidFill>
                  <a:srgbClr val="E6EE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240280"/>
            <a:ext cx="2651760" cy="789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A9C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&amp;</a:t>
            </a:r>
            <a:endParaRPr lang="en-US" sz="2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A9C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Assurance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3139948"/>
            <a:ext cx="2560320" cy="14777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B8C0C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국내외 회계기준(K-IFRS, K-GAAP, US GAAP 등)에 따라 재무제표에 대한 독립적이고 객관적인 감사를 수행하고, 비재무 정보·내부통제·지속가능경영 보고서에 대한 독립적 검증 서비스를 제공합니다.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3383280" y="868680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법적 의무에 따른 회계감사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3383280" y="1124712"/>
            <a:ext cx="25146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B8C0C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외부감사법에 의한 재무제표 감사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B8C0C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상장법인 재무제표 감사 및 분·반기 검토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B8C0C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금융기관 재무제표 감사, 공기업 결산감사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B8C0C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비영리법인 회계감사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6172200" y="868680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내부회계관리제도 관련 서비스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6172200" y="1124712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B8C0C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내부회계관리제도 구축 및 보완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B8C0C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평가 및 개선안 제시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3383280" y="2185416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업종별 특수목적 감사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3383280" y="2441448"/>
            <a:ext cx="25146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B8C0C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아파트·재건축/재개발조합 회계감사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B8C0C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펀드 및 유동화자산 회계감사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B8C0C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정부 정책자금 사용 관련 회계감사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6172200" y="1746504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법정·규제 관련 기업 진단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6172200" y="2002536"/>
            <a:ext cx="25146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B8C0C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건설업법 등에 따른 기업 진단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B8C0C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개발비 사용 내역 확인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B8C0C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면허 신청·갱신을 위한 진단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3383280" y="3282696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기업거래 · 자본시장 · 특별목적 감사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3383280" y="3538728"/>
            <a:ext cx="25146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B8C0C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M&amp;A를 위한 재무제표 감사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B8C0C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유가증권·코스닥시장 상장을 위한 회계감사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B8C0C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법원·금융기관·주주 요청 감사, 임의감사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6172200" y="2843784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부정위험 예방 및 감사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6172200" y="3099816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B8C0C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부정위험 예방 및 적발 감사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B8C0C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로열티 확인 감사</a:t>
            </a:r>
            <a:endParaRPr lang="en-US" sz="900" dirty="0"/>
          </a:p>
        </p:txBody>
      </p:sp>
      <p:pic>
        <p:nvPicPr>
          <p:cNvPr id="20" name="Photo audit"/>
          <p:cNvPicPr>
            <a:picLocks noChangeAspect="1"/>
          </p:cNvPicPr>
          <p:nvPr/>
        </p:nvPicPr>
        <p:blipFill>
          <a:blip r:embed="rId4"/>
          <a:srcRect t="24129" b="24129"/>
          <a:stretch>
            <a:fillRect/>
          </a:stretch>
        </p:blipFill>
        <p:spPr>
          <a:xfrm>
            <a:off x="6172200" y="3657600"/>
            <a:ext cx="2514600" cy="9601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seonyeong</a:t>
            </a:r>
            <a:pPr indent="0" marL="0">
              <a:buNone/>
            </a:pPr>
            <a:r>
              <a:rPr lang="en-US" sz="650" spc="100" kern="0" dirty="0">
                <a:solidFill>
                  <a:srgbClr val="6F7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ACCOUNTING CORPORATION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0" y="47548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F7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선영회계법인  |  6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858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9C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914400"/>
            <a:ext cx="1097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400" b="1" dirty="0">
                <a:solidFill>
                  <a:srgbClr val="E6EE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240280"/>
            <a:ext cx="2651760" cy="9963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900" b="1" dirty="0">
                <a:solidFill>
                  <a:srgbClr val="A9C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Accounting</a:t>
            </a:r>
            <a:endParaRPr lang="en-US" sz="1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900" b="1" dirty="0">
                <a:solidFill>
                  <a:srgbClr val="A9C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Advisory</a:t>
            </a:r>
            <a:endParaRPr lang="en-US" sz="1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900" b="1" dirty="0">
                <a:solidFill>
                  <a:srgbClr val="A9C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Services (AAS)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3346323"/>
            <a:ext cx="2560320" cy="12713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B8C0C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신규 회계기준 도입, 복잡한 거래에 대한 회계처리, 내부회계관리제도 구축 등 다양한 상황에서 명확하고 실무적인 해석과 실행 방안을 제시합니다.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3383280" y="868680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회계 및 재무 자문 서비스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3383280" y="1124712"/>
            <a:ext cx="53035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B8C0C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사전 합의된 절차 이행 업무 (Agreed-upon Procedure)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B8C0C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자산·부채 실사 (Due Diligence)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B8C0C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재무제표 작성 및 검토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B8C0C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회계 처리에 대한 자문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3383280" y="2185416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IFRS 및 기업회계기준 관련 서비스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3383280" y="2441448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B8C0C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IFRS 도입을 위한 사전 분석 및 평가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B8C0C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최적 IFRS 시스템의 설계 및 적용 자문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3383280" y="3063240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교육 및 전문 개발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3383280" y="3319272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B8C0C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기업회계기준 및 국제기업회계기준 교육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B8C0C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규정 준수 및 회계기준 이해도 향상 프로그램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seonyeong</a:t>
            </a:r>
            <a:pPr indent="0" marL="0">
              <a:buNone/>
            </a:pPr>
            <a:r>
              <a:rPr lang="en-US" sz="650" spc="100" kern="0" dirty="0">
                <a:solidFill>
                  <a:srgbClr val="6F7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ACCOUNTING CORPORATION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0" y="47548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F7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선영회계법인  |  7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858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9C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914400"/>
            <a:ext cx="1097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400" b="1" dirty="0">
                <a:solidFill>
                  <a:srgbClr val="E6EE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240280"/>
            <a:ext cx="2651760" cy="789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A9C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Tax</a:t>
            </a:r>
            <a:endParaRPr lang="en-US" sz="2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A9C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Services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3139948"/>
            <a:ext cx="2560320" cy="14777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B8C0C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복잡하게 변화하는 세법 환경 속에서 기업의 세무 리스크를 최소화하고, 합리적인 세금 전략을 수립할 수 있도록 지원합니다. 세무조정·신고대리부터 국제조세, 세무조사 대응까지 종합 세무 서비스를 제공합니다.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3383280" y="868680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세무조정 등 신고대리 및 세무자문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3383280" y="1124712"/>
            <a:ext cx="25146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B8C0C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법인세 세무조정, 부가가치세·소득세·상속증여세 신고서 작성 및 검토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B8C0C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수정신고 및 경정청구 대리, 유권해석 질의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B8C0C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비상장주식 평가 등 재산제세 자문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6172200" y="868680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M&amp;A 관련 세무실사 및 자문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6172200" y="1124712"/>
            <a:ext cx="25146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B8C0C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합병·분할·사업양수도·현물출자 세무자문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B8C0C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영업권 세무검토, IPO·주식변동 세무자문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B8C0C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세무실사 (Tax Due Diligence)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3383280" y="1965960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국제조세 자문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3383280" y="2221992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B8C0C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해외투자 관련 세무자문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B8C0C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외국법인의 국내자회사 설립 세무자문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6172200" y="1965960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세무조사 지원 및 조세불복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6172200" y="2221992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B8C0C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세무조사 대비 사전 세무진단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B8C0C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과세전적부심사·이의신청·심사·심판청구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3383280" y="2843784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이전가격 서비스 (Transfer Pricing)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3383280" y="3099816"/>
            <a:ext cx="25146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B8C0C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이전가격 전략·정책 수립, 연구 및 문서화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B8C0C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사전가격승인(APA) 취득 지원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B8C0C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이전가격 세무조사 방어</a:t>
            </a:r>
            <a:endParaRPr lang="en-US" sz="900" dirty="0"/>
          </a:p>
        </p:txBody>
      </p:sp>
      <p:pic>
        <p:nvPicPr>
          <p:cNvPr id="18" name="Photo tax"/>
          <p:cNvPicPr>
            <a:picLocks noChangeAspect="1"/>
          </p:cNvPicPr>
          <p:nvPr/>
        </p:nvPicPr>
        <p:blipFill>
          <a:blip r:embed="rId4"/>
          <a:srcRect t="7678" b="7678"/>
          <a:stretch>
            <a:fillRect/>
          </a:stretch>
        </p:blipFill>
        <p:spPr>
          <a:xfrm>
            <a:off x="6172200" y="2880360"/>
            <a:ext cx="2514600" cy="17373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seonyeong</a:t>
            </a:r>
            <a:pPr indent="0" marL="0">
              <a:buNone/>
            </a:pPr>
            <a:r>
              <a:rPr lang="en-US" sz="650" spc="100" kern="0" dirty="0">
                <a:solidFill>
                  <a:srgbClr val="6F7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ACCOUNTING CORPORATION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0" y="47548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F7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선영회계법인  |  8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858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9C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868680"/>
            <a:ext cx="822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rgbClr val="E6EE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60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9601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A9C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Advisory Services (FAS)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13898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C0C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M&amp;A, 기업가치 평가, 실사(Due Diligence), 사업 타당성 분석 등 기업의 중요한 의사결정을 돕습니다.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57200" y="1874520"/>
            <a:ext cx="2651760" cy="2697480"/>
          </a:xfrm>
          <a:prstGeom prst="rect">
            <a:avLst/>
          </a:prstGeom>
          <a:solidFill>
            <a:srgbClr val="0C111C"/>
          </a:solidFill>
          <a:ln w="9525">
            <a:solidFill>
              <a:srgbClr val="1E263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203911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9C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기업 인수합병 자문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23317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6F7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전략, 가치평가, 실사, 계약 등 M&amp;A 전 과정을 종합 지원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2880360"/>
            <a:ext cx="23317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B8C0C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M&amp;A 전략 수립 및 거래구조 자문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B8C0C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매각·매수 대상 기업 발굴 지원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B8C0C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기업가치 평가 (Valuation), 영업권 평가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B8C0C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재무 실사 (Due Diligence)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B8C0C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주식·사업양수도 계약서 검토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B8C0C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인수 후 통합 자문 (PMI)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B8C0C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투자유치 / 자금조달 (Financing)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291840" y="1874520"/>
            <a:ext cx="2651760" cy="2697480"/>
          </a:xfrm>
          <a:prstGeom prst="rect">
            <a:avLst/>
          </a:prstGeom>
          <a:solidFill>
            <a:srgbClr val="0C111C"/>
          </a:solidFill>
          <a:ln w="9525">
            <a:solidFill>
              <a:srgbClr val="1E263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474720" y="203911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9C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IPO 자문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3474720" y="23317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6F7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회계·재무·지배구조·내부통제 전반의 상장 준비 컨설팅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3474720" y="2880360"/>
            <a:ext cx="23317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B8C0C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기업공개 전략 수립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B8C0C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주간사 선정 및 제휴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B8C0C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재무실사 및 기업가치 평가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B8C0C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예비심사청구서 작성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B8C0C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IR 자료 작성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126480" y="1874520"/>
            <a:ext cx="2651760" cy="2697480"/>
          </a:xfrm>
          <a:prstGeom prst="rect">
            <a:avLst/>
          </a:prstGeom>
          <a:solidFill>
            <a:srgbClr val="0C111C"/>
          </a:solidFill>
          <a:ln w="9525">
            <a:solidFill>
              <a:srgbClr val="1E263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309360" y="203911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9C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비즈니스 재편성 자문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309360" y="23317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6F7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분할·합병·사업양수도·지주회사 전환의 최적 방안 설계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6309360" y="2880360"/>
            <a:ext cx="23317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B8C0C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경영 환경 분석 및 장단기 경영 전략 수립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B8C0C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사업 타당성 분석 및 사업계획서 작성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B8C0C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기업 지배구조 조정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B8C0C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재무 분석과 재무 진단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seonyeong</a:t>
            </a:r>
            <a:pPr indent="0" marL="0">
              <a:buNone/>
            </a:pPr>
            <a:r>
              <a:rPr lang="en-US" sz="650" spc="100" kern="0" dirty="0">
                <a:solidFill>
                  <a:srgbClr val="6F7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ACCOUNTING CORPORATION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0" y="47548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F7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선영회계법인  |  9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858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9C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Portfolio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9326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A9C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Proven Results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463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C0C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입증된 결과, 신뢰로 이어진 파트너십. 수많은 기업의 회계·세무·재무 과제를 함께 해결하며 정량적 성과와 정성적 가치를 동시에 증명해왔습니다.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57200" y="1920240"/>
            <a:ext cx="2651760" cy="1143000"/>
          </a:xfrm>
          <a:prstGeom prst="rect">
            <a:avLst/>
          </a:prstGeom>
          <a:solidFill>
            <a:srgbClr val="0C111C"/>
          </a:solidFill>
          <a:ln w="9525">
            <a:solidFill>
              <a:srgbClr val="1E26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2075688"/>
            <a:ext cx="685800" cy="219456"/>
          </a:xfrm>
          <a:prstGeom prst="roundRect">
            <a:avLst>
              <a:gd name="adj" fmla="val 20833"/>
            </a:avLst>
          </a:prstGeom>
          <a:solidFill>
            <a:srgbClr val="16305A"/>
          </a:solidFill>
          <a:ln w="12700">
            <a:solidFill>
              <a:srgbClr val="16305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2075688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A9C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회계자문</a:t>
            </a:r>
            <a:endParaRPr lang="en-US" sz="8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2359152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상장사 P사 내부회계 및 내부통제 구축 업무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280720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F7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상장 정보통신업체 P사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291840" y="1920240"/>
            <a:ext cx="2651760" cy="1143000"/>
          </a:xfrm>
          <a:prstGeom prst="rect">
            <a:avLst/>
          </a:prstGeom>
          <a:solidFill>
            <a:srgbClr val="0C111C"/>
          </a:solidFill>
          <a:ln w="9525">
            <a:solidFill>
              <a:srgbClr val="1E263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474720" y="2075688"/>
            <a:ext cx="685800" cy="219456"/>
          </a:xfrm>
          <a:prstGeom prst="roundRect">
            <a:avLst>
              <a:gd name="adj" fmla="val 20833"/>
            </a:avLst>
          </a:prstGeom>
          <a:solidFill>
            <a:srgbClr val="16305A"/>
          </a:solidFill>
          <a:ln w="12700">
            <a:solidFill>
              <a:srgbClr val="16305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474720" y="2075688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A9C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세무자문</a:t>
            </a:r>
            <a:endParaRPr lang="en-US" sz="800" dirty="0"/>
          </a:p>
        </p:txBody>
      </p:sp>
      <p:sp>
        <p:nvSpPr>
          <p:cNvPr id="15" name="Text 13"/>
          <p:cNvSpPr txBox="1"/>
          <p:nvPr/>
        </p:nvSpPr>
        <p:spPr>
          <a:xfrm>
            <a:off x="3474720" y="2359152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합병 관련 세무검토 및 합병비율 분석, 주식가치평가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3474720" y="280720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F7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국내 대기업 N사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6126480" y="1920240"/>
            <a:ext cx="2651760" cy="1143000"/>
          </a:xfrm>
          <a:prstGeom prst="rect">
            <a:avLst/>
          </a:prstGeom>
          <a:solidFill>
            <a:srgbClr val="0C111C"/>
          </a:solidFill>
          <a:ln w="9525">
            <a:solidFill>
              <a:srgbClr val="1E263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309360" y="2075688"/>
            <a:ext cx="685800" cy="219456"/>
          </a:xfrm>
          <a:prstGeom prst="roundRect">
            <a:avLst>
              <a:gd name="adj" fmla="val 20833"/>
            </a:avLst>
          </a:prstGeom>
          <a:solidFill>
            <a:srgbClr val="16305A"/>
          </a:solidFill>
          <a:ln w="12700">
            <a:solidFill>
              <a:srgbClr val="16305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309360" y="2075688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A9C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세무자문</a:t>
            </a:r>
            <a:endParaRPr lang="en-US" sz="800" dirty="0"/>
          </a:p>
        </p:txBody>
      </p:sp>
      <p:sp>
        <p:nvSpPr>
          <p:cNvPr id="20" name="Text 18"/>
          <p:cNvSpPr txBox="1"/>
          <p:nvPr/>
        </p:nvSpPr>
        <p:spPr>
          <a:xfrm>
            <a:off x="6309360" y="2359152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외국계 기업 총괄 주식가치평가 및 국제조세업무 수행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6309360" y="280720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F7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상장 바이오기업 C사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57200" y="3246120"/>
            <a:ext cx="2651760" cy="1143000"/>
          </a:xfrm>
          <a:prstGeom prst="rect">
            <a:avLst/>
          </a:prstGeom>
          <a:solidFill>
            <a:srgbClr val="0C111C"/>
          </a:solidFill>
          <a:ln w="9525">
            <a:solidFill>
              <a:srgbClr val="1E263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40080" y="3401568"/>
            <a:ext cx="685800" cy="219456"/>
          </a:xfrm>
          <a:prstGeom prst="roundRect">
            <a:avLst>
              <a:gd name="adj" fmla="val 20833"/>
            </a:avLst>
          </a:prstGeom>
          <a:solidFill>
            <a:srgbClr val="16305A"/>
          </a:solidFill>
          <a:ln w="12700">
            <a:solidFill>
              <a:srgbClr val="16305A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40080" y="3401568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A9C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회계감사</a:t>
            </a:r>
            <a:endParaRPr lang="en-US" sz="800" dirty="0"/>
          </a:p>
        </p:txBody>
      </p:sp>
      <p:sp>
        <p:nvSpPr>
          <p:cNvPr id="25" name="Text 23"/>
          <p:cNvSpPr txBox="1"/>
          <p:nvPr/>
        </p:nvSpPr>
        <p:spPr>
          <a:xfrm>
            <a:off x="640080" y="3685032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회계감사 업무 수행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640080" y="413308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F7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소프트웨어 개발·공급 기업 K사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291840" y="3246120"/>
            <a:ext cx="2651760" cy="1143000"/>
          </a:xfrm>
          <a:prstGeom prst="rect">
            <a:avLst/>
          </a:prstGeom>
          <a:solidFill>
            <a:srgbClr val="0C111C"/>
          </a:solidFill>
          <a:ln w="9525">
            <a:solidFill>
              <a:srgbClr val="1E263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474720" y="3401568"/>
            <a:ext cx="685800" cy="219456"/>
          </a:xfrm>
          <a:prstGeom prst="roundRect">
            <a:avLst>
              <a:gd name="adj" fmla="val 20833"/>
            </a:avLst>
          </a:prstGeom>
          <a:solidFill>
            <a:srgbClr val="16305A"/>
          </a:solidFill>
          <a:ln w="12700">
            <a:solidFill>
              <a:srgbClr val="16305A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3474720" y="3401568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A9C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회계감사</a:t>
            </a:r>
            <a:endParaRPr lang="en-US" sz="800" dirty="0"/>
          </a:p>
        </p:txBody>
      </p:sp>
      <p:sp>
        <p:nvSpPr>
          <p:cNvPr id="30" name="Text 28"/>
          <p:cNvSpPr txBox="1"/>
          <p:nvPr/>
        </p:nvSpPr>
        <p:spPr>
          <a:xfrm>
            <a:off x="3474720" y="3685032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회계감사 업무 수행</a:t>
            </a:r>
            <a:endParaRPr lang="en-US" sz="1050" dirty="0"/>
          </a:p>
        </p:txBody>
      </p:sp>
      <p:sp>
        <p:nvSpPr>
          <p:cNvPr id="31" name="Text 29"/>
          <p:cNvSpPr txBox="1"/>
          <p:nvPr/>
        </p:nvSpPr>
        <p:spPr>
          <a:xfrm>
            <a:off x="3474720" y="413308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F7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항만시설관리운영사 P사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6126480" y="3246120"/>
            <a:ext cx="2651760" cy="1143000"/>
          </a:xfrm>
          <a:prstGeom prst="rect">
            <a:avLst/>
          </a:prstGeom>
          <a:solidFill>
            <a:srgbClr val="0C111C"/>
          </a:solidFill>
          <a:ln w="9525">
            <a:solidFill>
              <a:srgbClr val="1E263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309360" y="3401568"/>
            <a:ext cx="685800" cy="219456"/>
          </a:xfrm>
          <a:prstGeom prst="roundRect">
            <a:avLst>
              <a:gd name="adj" fmla="val 20833"/>
            </a:avLst>
          </a:prstGeom>
          <a:solidFill>
            <a:srgbClr val="16305A"/>
          </a:solidFill>
          <a:ln w="12700">
            <a:solidFill>
              <a:srgbClr val="16305A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309360" y="3401568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A9C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회계자문</a:t>
            </a:r>
            <a:endParaRPr lang="en-US" sz="800" dirty="0"/>
          </a:p>
        </p:txBody>
      </p:sp>
      <p:sp>
        <p:nvSpPr>
          <p:cNvPr id="35" name="Text 33"/>
          <p:cNvSpPr txBox="1"/>
          <p:nvPr/>
        </p:nvSpPr>
        <p:spPr>
          <a:xfrm>
            <a:off x="6309360" y="3685032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표준회계처리 DB 구축용역 수행</a:t>
            </a:r>
            <a:endParaRPr lang="en-US" sz="1050" dirty="0"/>
          </a:p>
        </p:txBody>
      </p:sp>
      <p:sp>
        <p:nvSpPr>
          <p:cNvPr id="36" name="Text 34"/>
          <p:cNvSpPr txBox="1"/>
          <p:nvPr/>
        </p:nvSpPr>
        <p:spPr>
          <a:xfrm>
            <a:off x="6309360" y="413308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F7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시장형 공기업 H사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seonyeong</a:t>
            </a:r>
            <a:pPr indent="0" marL="0">
              <a:buNone/>
            </a:pPr>
            <a:r>
              <a:rPr lang="en-US" sz="650" spc="100" kern="0" dirty="0">
                <a:solidFill>
                  <a:srgbClr val="6F7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ACCOUNTING CORPORATION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0" y="47548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F7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선영회계법인  |  10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858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9C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Experts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9326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A9C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Experts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463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C0C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 분야에서 풍부한 경험과 탁월한 전문성을 바탕으로, 고객의 복잡한 문제를 정확히 진단하고 효율적인 해결책을 제시하는 책임감 있는 동반자입니다.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4114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F7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Principles  ·  Act with Ownership  |  Leverage Technology for Excellence  |  Uphold Integrity</a:t>
            </a:r>
            <a:endParaRPr lang="en-US" sz="950" dirty="0"/>
          </a:p>
        </p:txBody>
      </p:sp>
      <p:pic>
        <p:nvPicPr>
          <p:cNvPr id="26" name="Photo 최학수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457200" y="1965960"/>
            <a:ext cx="916686" cy="1225025"/>
          </a:xfrm>
          <a:prstGeom prst="rect">
            <a:avLst/>
          </a:prstGeom>
        </p:spPr>
      </p:pic>
      <p:sp>
        <p:nvSpPr>
          <p:cNvPr id="27" name="Card 0"/>
          <p:cNvSpPr/>
          <p:nvPr/>
        </p:nvSpPr>
        <p:spPr>
          <a:xfrm>
            <a:off x="457200" y="3190985"/>
            <a:ext cx="916686" cy="566928"/>
          </a:xfrm>
          <a:prstGeom prst="rect">
            <a:avLst/>
          </a:prstGeom>
          <a:solidFill>
            <a:srgbClr val="0C111C"/>
          </a:solidFill>
          <a:ln w="9525">
            <a:solidFill>
              <a:srgbClr val="1E2633"/>
            </a:solidFill>
            <a:prstDash val="solid"/>
          </a:ln>
        </p:spPr>
      </p:sp>
      <p:sp>
        <p:nvSpPr>
          <p:cNvPr id="28" name="Name 0"/>
          <p:cNvSpPr txBox="1"/>
          <p:nvPr/>
        </p:nvSpPr>
        <p:spPr>
          <a:xfrm>
            <a:off x="457200" y="3245849"/>
            <a:ext cx="9166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최학수</a:t>
            </a:r>
            <a:endParaRPr lang="en-US" sz="1100" dirty="0"/>
          </a:p>
        </p:txBody>
      </p:sp>
      <p:sp>
        <p:nvSpPr>
          <p:cNvPr id="29" name="Role 0"/>
          <p:cNvSpPr txBox="1"/>
          <p:nvPr/>
        </p:nvSpPr>
        <p:spPr>
          <a:xfrm>
            <a:off x="457200" y="3520169"/>
            <a:ext cx="91668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8C0C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대표 회계사</a:t>
            </a:r>
            <a:endParaRPr lang="en-US" sz="800" dirty="0"/>
          </a:p>
        </p:txBody>
      </p:sp>
      <p:pic>
        <p:nvPicPr>
          <p:cNvPr id="30" name="Photo 황휘순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1501902" y="1965960"/>
            <a:ext cx="916686" cy="1225025"/>
          </a:xfrm>
          <a:prstGeom prst="rect">
            <a:avLst/>
          </a:prstGeom>
        </p:spPr>
      </p:pic>
      <p:sp>
        <p:nvSpPr>
          <p:cNvPr id="31" name="Card 1"/>
          <p:cNvSpPr/>
          <p:nvPr/>
        </p:nvSpPr>
        <p:spPr>
          <a:xfrm>
            <a:off x="1501902" y="3190985"/>
            <a:ext cx="916686" cy="566928"/>
          </a:xfrm>
          <a:prstGeom prst="rect">
            <a:avLst/>
          </a:prstGeom>
          <a:solidFill>
            <a:srgbClr val="0C111C"/>
          </a:solidFill>
          <a:ln w="9525">
            <a:solidFill>
              <a:srgbClr val="1E2633"/>
            </a:solidFill>
            <a:prstDash val="solid"/>
          </a:ln>
        </p:spPr>
      </p:sp>
      <p:sp>
        <p:nvSpPr>
          <p:cNvPr id="32" name="Name 1"/>
          <p:cNvSpPr txBox="1"/>
          <p:nvPr/>
        </p:nvSpPr>
        <p:spPr>
          <a:xfrm>
            <a:off x="1501902" y="3245849"/>
            <a:ext cx="9166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황휘순</a:t>
            </a:r>
            <a:endParaRPr lang="en-US" sz="1100" dirty="0"/>
          </a:p>
        </p:txBody>
      </p:sp>
      <p:sp>
        <p:nvSpPr>
          <p:cNvPr id="33" name="Role 1"/>
          <p:cNvSpPr txBox="1"/>
          <p:nvPr/>
        </p:nvSpPr>
        <p:spPr>
          <a:xfrm>
            <a:off x="1501902" y="3520169"/>
            <a:ext cx="91668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8C0C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공인회계사</a:t>
            </a:r>
            <a:endParaRPr lang="en-US" sz="800" dirty="0"/>
          </a:p>
        </p:txBody>
      </p:sp>
      <p:pic>
        <p:nvPicPr>
          <p:cNvPr id="34" name="Photo 한만현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2546604" y="1965960"/>
            <a:ext cx="916686" cy="1225025"/>
          </a:xfrm>
          <a:prstGeom prst="rect">
            <a:avLst/>
          </a:prstGeom>
        </p:spPr>
      </p:pic>
      <p:sp>
        <p:nvSpPr>
          <p:cNvPr id="35" name="Card 2"/>
          <p:cNvSpPr/>
          <p:nvPr/>
        </p:nvSpPr>
        <p:spPr>
          <a:xfrm>
            <a:off x="2546604" y="3190985"/>
            <a:ext cx="916686" cy="566928"/>
          </a:xfrm>
          <a:prstGeom prst="rect">
            <a:avLst/>
          </a:prstGeom>
          <a:solidFill>
            <a:srgbClr val="0C111C"/>
          </a:solidFill>
          <a:ln w="9525">
            <a:solidFill>
              <a:srgbClr val="1E2633"/>
            </a:solidFill>
            <a:prstDash val="solid"/>
          </a:ln>
        </p:spPr>
      </p:sp>
      <p:sp>
        <p:nvSpPr>
          <p:cNvPr id="36" name="Name 2"/>
          <p:cNvSpPr txBox="1"/>
          <p:nvPr/>
        </p:nvSpPr>
        <p:spPr>
          <a:xfrm>
            <a:off x="2546604" y="3245849"/>
            <a:ext cx="9166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한만현</a:t>
            </a:r>
            <a:endParaRPr lang="en-US" sz="1100" dirty="0"/>
          </a:p>
        </p:txBody>
      </p:sp>
      <p:sp>
        <p:nvSpPr>
          <p:cNvPr id="37" name="Role 2"/>
          <p:cNvSpPr txBox="1"/>
          <p:nvPr/>
        </p:nvSpPr>
        <p:spPr>
          <a:xfrm>
            <a:off x="2546604" y="3520169"/>
            <a:ext cx="91668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8C0C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공인회계사</a:t>
            </a:r>
            <a:endParaRPr lang="en-US" sz="800" dirty="0"/>
          </a:p>
        </p:txBody>
      </p:sp>
      <p:pic>
        <p:nvPicPr>
          <p:cNvPr id="38" name="Photo 이지훈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3591306" y="1965960"/>
            <a:ext cx="916686" cy="1225025"/>
          </a:xfrm>
          <a:prstGeom prst="rect">
            <a:avLst/>
          </a:prstGeom>
        </p:spPr>
      </p:pic>
      <p:sp>
        <p:nvSpPr>
          <p:cNvPr id="39" name="Card 3"/>
          <p:cNvSpPr/>
          <p:nvPr/>
        </p:nvSpPr>
        <p:spPr>
          <a:xfrm>
            <a:off x="3591306" y="3190985"/>
            <a:ext cx="916686" cy="566928"/>
          </a:xfrm>
          <a:prstGeom prst="rect">
            <a:avLst/>
          </a:prstGeom>
          <a:solidFill>
            <a:srgbClr val="0C111C"/>
          </a:solidFill>
          <a:ln w="9525">
            <a:solidFill>
              <a:srgbClr val="1E2633"/>
            </a:solidFill>
            <a:prstDash val="solid"/>
          </a:ln>
        </p:spPr>
      </p:sp>
      <p:sp>
        <p:nvSpPr>
          <p:cNvPr id="40" name="Name 3"/>
          <p:cNvSpPr txBox="1"/>
          <p:nvPr/>
        </p:nvSpPr>
        <p:spPr>
          <a:xfrm>
            <a:off x="3591306" y="3245849"/>
            <a:ext cx="9166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이지훈</a:t>
            </a:r>
            <a:endParaRPr lang="en-US" sz="1100" dirty="0"/>
          </a:p>
        </p:txBody>
      </p:sp>
      <p:sp>
        <p:nvSpPr>
          <p:cNvPr id="41" name="Role 3"/>
          <p:cNvSpPr txBox="1"/>
          <p:nvPr/>
        </p:nvSpPr>
        <p:spPr>
          <a:xfrm>
            <a:off x="3591306" y="3520169"/>
            <a:ext cx="91668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8C0C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공인회계사</a:t>
            </a:r>
            <a:endParaRPr lang="en-US" sz="800" dirty="0"/>
          </a:p>
        </p:txBody>
      </p:sp>
      <p:pic>
        <p:nvPicPr>
          <p:cNvPr id="42" name="Photo 이준호"/>
          <p:cNvPicPr>
            <a:picLocks noChangeAspect="1"/>
          </p:cNvPicPr>
          <p:nvPr/>
        </p:nvPicPr>
        <p:blipFill>
          <a:blip r:embed="rId8"/>
          <a:srcRect/>
          <a:stretch>
            <a:fillRect/>
          </a:stretch>
        </p:blipFill>
        <p:spPr>
          <a:xfrm>
            <a:off x="4636008" y="1965960"/>
            <a:ext cx="916686" cy="1225025"/>
          </a:xfrm>
          <a:prstGeom prst="rect">
            <a:avLst/>
          </a:prstGeom>
        </p:spPr>
      </p:pic>
      <p:sp>
        <p:nvSpPr>
          <p:cNvPr id="43" name="Card 4"/>
          <p:cNvSpPr/>
          <p:nvPr/>
        </p:nvSpPr>
        <p:spPr>
          <a:xfrm>
            <a:off x="4636008" y="3190985"/>
            <a:ext cx="916686" cy="566928"/>
          </a:xfrm>
          <a:prstGeom prst="rect">
            <a:avLst/>
          </a:prstGeom>
          <a:solidFill>
            <a:srgbClr val="0C111C"/>
          </a:solidFill>
          <a:ln w="9525">
            <a:solidFill>
              <a:srgbClr val="1E2633"/>
            </a:solidFill>
            <a:prstDash val="solid"/>
          </a:ln>
        </p:spPr>
      </p:sp>
      <p:sp>
        <p:nvSpPr>
          <p:cNvPr id="44" name="Name 4"/>
          <p:cNvSpPr txBox="1"/>
          <p:nvPr/>
        </p:nvSpPr>
        <p:spPr>
          <a:xfrm>
            <a:off x="4636008" y="3245849"/>
            <a:ext cx="9166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이준호</a:t>
            </a:r>
            <a:endParaRPr lang="en-US" sz="1100" dirty="0"/>
          </a:p>
        </p:txBody>
      </p:sp>
      <p:sp>
        <p:nvSpPr>
          <p:cNvPr id="45" name="Role 4"/>
          <p:cNvSpPr txBox="1"/>
          <p:nvPr/>
        </p:nvSpPr>
        <p:spPr>
          <a:xfrm>
            <a:off x="4636008" y="3520169"/>
            <a:ext cx="91668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8C0C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공인회계사</a:t>
            </a:r>
            <a:endParaRPr lang="en-US" sz="800" dirty="0"/>
          </a:p>
        </p:txBody>
      </p:sp>
      <p:pic>
        <p:nvPicPr>
          <p:cNvPr id="46" name="Photo 이범기"/>
          <p:cNvPicPr>
            <a:picLocks noChangeAspect="1"/>
          </p:cNvPicPr>
          <p:nvPr/>
        </p:nvPicPr>
        <p:blipFill>
          <a:blip r:embed="rId9"/>
          <a:srcRect/>
          <a:stretch>
            <a:fillRect/>
          </a:stretch>
        </p:blipFill>
        <p:spPr>
          <a:xfrm>
            <a:off x="5680710" y="1965960"/>
            <a:ext cx="916686" cy="1225025"/>
          </a:xfrm>
          <a:prstGeom prst="rect">
            <a:avLst/>
          </a:prstGeom>
        </p:spPr>
      </p:pic>
      <p:sp>
        <p:nvSpPr>
          <p:cNvPr id="47" name="Card 5"/>
          <p:cNvSpPr/>
          <p:nvPr/>
        </p:nvSpPr>
        <p:spPr>
          <a:xfrm>
            <a:off x="5680710" y="3190985"/>
            <a:ext cx="916686" cy="566928"/>
          </a:xfrm>
          <a:prstGeom prst="rect">
            <a:avLst/>
          </a:prstGeom>
          <a:solidFill>
            <a:srgbClr val="0C111C"/>
          </a:solidFill>
          <a:ln w="9525">
            <a:solidFill>
              <a:srgbClr val="1E2633"/>
            </a:solidFill>
            <a:prstDash val="solid"/>
          </a:ln>
        </p:spPr>
      </p:sp>
      <p:sp>
        <p:nvSpPr>
          <p:cNvPr id="48" name="Name 5"/>
          <p:cNvSpPr txBox="1"/>
          <p:nvPr/>
        </p:nvSpPr>
        <p:spPr>
          <a:xfrm>
            <a:off x="5680710" y="3245849"/>
            <a:ext cx="9166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이범기</a:t>
            </a:r>
            <a:endParaRPr lang="en-US" sz="1100" dirty="0"/>
          </a:p>
        </p:txBody>
      </p:sp>
      <p:sp>
        <p:nvSpPr>
          <p:cNvPr id="49" name="Role 5"/>
          <p:cNvSpPr txBox="1"/>
          <p:nvPr/>
        </p:nvSpPr>
        <p:spPr>
          <a:xfrm>
            <a:off x="5680710" y="3520169"/>
            <a:ext cx="91668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8C0C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공인회계사</a:t>
            </a:r>
            <a:endParaRPr lang="en-US" sz="800" dirty="0"/>
          </a:p>
        </p:txBody>
      </p:sp>
      <p:pic>
        <p:nvPicPr>
          <p:cNvPr id="50" name="Photo 윤준영"/>
          <p:cNvPicPr>
            <a:picLocks noChangeAspect="1"/>
          </p:cNvPicPr>
          <p:nvPr/>
        </p:nvPicPr>
        <p:blipFill>
          <a:blip r:embed="rId10"/>
          <a:srcRect/>
          <a:stretch>
            <a:fillRect/>
          </a:stretch>
        </p:blipFill>
        <p:spPr>
          <a:xfrm>
            <a:off x="6725412" y="1965960"/>
            <a:ext cx="916686" cy="1225025"/>
          </a:xfrm>
          <a:prstGeom prst="rect">
            <a:avLst/>
          </a:prstGeom>
        </p:spPr>
      </p:pic>
      <p:sp>
        <p:nvSpPr>
          <p:cNvPr id="51" name="Card 6"/>
          <p:cNvSpPr/>
          <p:nvPr/>
        </p:nvSpPr>
        <p:spPr>
          <a:xfrm>
            <a:off x="6725412" y="3190985"/>
            <a:ext cx="916686" cy="566928"/>
          </a:xfrm>
          <a:prstGeom prst="rect">
            <a:avLst/>
          </a:prstGeom>
          <a:solidFill>
            <a:srgbClr val="0C111C"/>
          </a:solidFill>
          <a:ln w="9525">
            <a:solidFill>
              <a:srgbClr val="1E2633"/>
            </a:solidFill>
            <a:prstDash val="solid"/>
          </a:ln>
        </p:spPr>
      </p:sp>
      <p:sp>
        <p:nvSpPr>
          <p:cNvPr id="52" name="Name 6"/>
          <p:cNvSpPr txBox="1"/>
          <p:nvPr/>
        </p:nvSpPr>
        <p:spPr>
          <a:xfrm>
            <a:off x="6725412" y="3245849"/>
            <a:ext cx="9166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윤준영</a:t>
            </a:r>
            <a:endParaRPr lang="en-US" sz="1100" dirty="0"/>
          </a:p>
        </p:txBody>
      </p:sp>
      <p:sp>
        <p:nvSpPr>
          <p:cNvPr id="53" name="Role 6"/>
          <p:cNvSpPr txBox="1"/>
          <p:nvPr/>
        </p:nvSpPr>
        <p:spPr>
          <a:xfrm>
            <a:off x="6725412" y="3520169"/>
            <a:ext cx="91668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8C0C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공인회계사</a:t>
            </a:r>
            <a:endParaRPr lang="en-US" sz="800" dirty="0"/>
          </a:p>
        </p:txBody>
      </p:sp>
      <p:pic>
        <p:nvPicPr>
          <p:cNvPr id="54" name="Photo 김은영"/>
          <p:cNvPicPr>
            <a:picLocks noChangeAspect="1"/>
          </p:cNvPicPr>
          <p:nvPr/>
        </p:nvPicPr>
        <p:blipFill>
          <a:blip r:embed="rId11"/>
          <a:srcRect/>
          <a:stretch>
            <a:fillRect/>
          </a:stretch>
        </p:blipFill>
        <p:spPr>
          <a:xfrm>
            <a:off x="7770114" y="1965960"/>
            <a:ext cx="916686" cy="1225025"/>
          </a:xfrm>
          <a:prstGeom prst="rect">
            <a:avLst/>
          </a:prstGeom>
        </p:spPr>
      </p:pic>
      <p:sp>
        <p:nvSpPr>
          <p:cNvPr id="55" name="Card 7"/>
          <p:cNvSpPr/>
          <p:nvPr/>
        </p:nvSpPr>
        <p:spPr>
          <a:xfrm>
            <a:off x="7770114" y="3190985"/>
            <a:ext cx="916686" cy="566928"/>
          </a:xfrm>
          <a:prstGeom prst="rect">
            <a:avLst/>
          </a:prstGeom>
          <a:solidFill>
            <a:srgbClr val="0C111C"/>
          </a:solidFill>
          <a:ln w="9525">
            <a:solidFill>
              <a:srgbClr val="1E2633"/>
            </a:solidFill>
            <a:prstDash val="solid"/>
          </a:ln>
        </p:spPr>
      </p:sp>
      <p:sp>
        <p:nvSpPr>
          <p:cNvPr id="56" name="Name 7"/>
          <p:cNvSpPr txBox="1"/>
          <p:nvPr/>
        </p:nvSpPr>
        <p:spPr>
          <a:xfrm>
            <a:off x="7770114" y="3245849"/>
            <a:ext cx="9166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김은영</a:t>
            </a:r>
            <a:endParaRPr lang="en-US" sz="1100" dirty="0"/>
          </a:p>
        </p:txBody>
      </p:sp>
      <p:sp>
        <p:nvSpPr>
          <p:cNvPr id="57" name="Role 7"/>
          <p:cNvSpPr txBox="1"/>
          <p:nvPr/>
        </p:nvSpPr>
        <p:spPr>
          <a:xfrm>
            <a:off x="7770114" y="3520169"/>
            <a:ext cx="91668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8C0C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세무사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seonyeong</a:t>
            </a:r>
            <a:pPr indent="0" marL="0">
              <a:buNone/>
            </a:pPr>
            <a:r>
              <a:rPr lang="en-US" sz="650" spc="100" kern="0" dirty="0">
                <a:solidFill>
                  <a:srgbClr val="6F7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ACCOUNTING CORPORATION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0" y="47548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F7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선영회계법인  |  11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858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9C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960120"/>
            <a:ext cx="4572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A9C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궁금한 점을 남겨주세요.</a:t>
            </a:r>
            <a:endParaRPr lang="en-US" sz="2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A9C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선영회계법인에서 연락드리겠습니다.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2860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F7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대표번호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1737360" y="22860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02-2183-1367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7432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F7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주소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1737360" y="2743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서울특별시 강남구 테헤란로70길 12, 6층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32004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F7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업무시간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1737360" y="32004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평일 10:00 ~ 18:00 (주말 및 공휴일 제외)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36576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F7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웹사이트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1737360" y="36576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www.syacc.co.kr</a:t>
            </a:r>
            <a:endParaRPr lang="en-US" sz="1200" dirty="0"/>
          </a:p>
        </p:txBody>
      </p:sp>
      <p:sp>
        <p:nvSpPr>
          <p:cNvPr id="22" name="Text 22"/>
          <p:cNvSpPr txBox="1"/>
          <p:nvPr/>
        </p:nvSpPr>
        <p:spPr>
          <a:xfrm>
            <a:off x="457200" y="41148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F7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이메일</a:t>
            </a:r>
            <a:endParaRPr lang="en-US" sz="1000" dirty="0"/>
          </a:p>
        </p:txBody>
      </p:sp>
      <p:sp>
        <p:nvSpPr>
          <p:cNvPr id="23" name="Text 23"/>
          <p:cNvSpPr txBox="1"/>
          <p:nvPr/>
        </p:nvSpPr>
        <p:spPr>
          <a:xfrm>
            <a:off x="1737360" y="4114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junholee@syacc.co.kr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035040" y="2240280"/>
            <a:ext cx="2651760" cy="1965960"/>
          </a:xfrm>
          <a:prstGeom prst="rect">
            <a:avLst/>
          </a:prstGeom>
          <a:solidFill>
            <a:srgbClr val="0C111C"/>
          </a:solidFill>
          <a:ln w="9525">
            <a:solidFill>
              <a:srgbClr val="1E263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263640" y="242316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F7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상호명</a:t>
            </a:r>
            <a:endParaRPr lang="en-US" sz="850" dirty="0"/>
          </a:p>
        </p:txBody>
      </p:sp>
      <p:sp>
        <p:nvSpPr>
          <p:cNvPr id="16" name="Text 14"/>
          <p:cNvSpPr txBox="1"/>
          <p:nvPr/>
        </p:nvSpPr>
        <p:spPr>
          <a:xfrm>
            <a:off x="6263640" y="26243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선영회계법인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263640" y="297180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F7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대표자</a:t>
            </a:r>
            <a:endParaRPr lang="en-US" sz="850" dirty="0"/>
          </a:p>
        </p:txBody>
      </p:sp>
      <p:sp>
        <p:nvSpPr>
          <p:cNvPr id="18" name="Text 16"/>
          <p:cNvSpPr txBox="1"/>
          <p:nvPr/>
        </p:nvSpPr>
        <p:spPr>
          <a:xfrm>
            <a:off x="6263640" y="31729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최학수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6263640" y="352044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F7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사업자등록번호</a:t>
            </a:r>
            <a:endParaRPr lang="en-US" sz="850" dirty="0"/>
          </a:p>
        </p:txBody>
      </p:sp>
      <p:sp>
        <p:nvSpPr>
          <p:cNvPr id="20" name="Text 18"/>
          <p:cNvSpPr txBox="1"/>
          <p:nvPr/>
        </p:nvSpPr>
        <p:spPr>
          <a:xfrm>
            <a:off x="6263640" y="372160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144-86-03413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4754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F7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Copyright ⓒ SeonYeong Acc Corp. All rights reserved.</a:t>
            </a:r>
            <a:endParaRPr lang="en-US" sz="800" dirty="0"/>
          </a:p>
        </p:txBody>
      </p:sp>
      <p:pic>
        <p:nvPicPr>
          <p:cNvPr id="24" name="Photo office"/>
          <p:cNvPicPr>
            <a:picLocks noChangeAspect="1"/>
          </p:cNvPicPr>
          <p:nvPr/>
        </p:nvPicPr>
        <p:blipFill>
          <a:blip r:embed="rId4"/>
          <a:srcRect t="18316" b="18316"/>
          <a:stretch>
            <a:fillRect/>
          </a:stretch>
        </p:blipFill>
        <p:spPr>
          <a:xfrm>
            <a:off x="6035040" y="685800"/>
            <a:ext cx="2651760" cy="1371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선영회계법인 회사소개</dc:title>
  <dc:subject>PptxGenJS Presentation</dc:subject>
  <dc:creator>PptxGenJS</dc:creator>
  <cp:lastModifiedBy>PptxGenJS</cp:lastModifiedBy>
  <cp:revision>1</cp:revision>
  <dcterms:created xsi:type="dcterms:W3CDTF">2026-09-03T03:27:54Z</dcterms:created>
  <dcterms:modified xsi:type="dcterms:W3CDTF">2026-09-03T03:27:54Z</dcterms:modified>
</cp:coreProperties>
</file>